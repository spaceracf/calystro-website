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CALYSTRO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Growth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Customers  →  30 Customers  →  $120k+ ARR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383280"/>
            <a:ext cx="5486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Claire Alexandra, CEO + Leadership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886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board review &amp; approval — Christian Farre &amp; Emily Falkiner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206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Opportunity — Right Now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🏚️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 is dead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Collapsed Sept 2025. Absorbed into Vocus — a wholesale giant not built for SMBs. 1.7★ on ProductReview. ACCC enforcement history.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thousands of SMB customers are NOW searching for alternatives.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143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PSTN switch-off urgency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Analogue copper networks being shut down. Hotels, medical practices, and law firms face forced phone-system upgrades.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solve this directly with Cisco Webex Calling.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00584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143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104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a unique gap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bundles internet + Cisco Meraki security + calling as one managed service at SMB price points.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Telstra, Aussie Broadband, Commander — none of them do this.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Target Market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buyer is an OPERATOR, not an IT person — time-poor, trust-driven, 5–100 staff, NSW/VIC.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466344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2194560"/>
                <a:gridCol w="228600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profile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signal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channel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proof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🏨 Hospitality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Hotel/venue GM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 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PABX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Commander customer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outreach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GEM Hotel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🏥 Healthcare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Dental principal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PSTN urgency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concerns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referrals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prospect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⚖️ Professional 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Managing partner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 principal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PSTN forcing upgrade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PABX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Accountant referrals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prospect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🏭 Manufacturing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 ops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Multi-site reliability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systems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 assoc.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outreach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prospect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 — Timeline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0515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customers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(Total: 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25400">
            <a:solidFill>
              <a:srgbClr val="68D3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051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0515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customers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(Total: 15)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0058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AF0"/>
          </a:solidFill>
          <a:ln w="25400">
            <a:solidFill>
              <a:srgbClr val="F6A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051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49840" y="10515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 customers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(Total: 30)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3611880" cy="640080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4884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1–2: Infrastructure setup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(CRM, email domain warm-up, tooling)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16352"/>
            <a:ext cx="3611880" cy="640080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6207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Referral program live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to Alevo, TW Obsession, GEM Hotel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529584"/>
            <a:ext cx="3611880" cy="640080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753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Publish Commander blog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+ Google My Business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242816"/>
            <a:ext cx="3611880" cy="640080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8853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Start Commander/Vocus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email campaign (100/week)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956048"/>
            <a:ext cx="3611880" cy="640080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0017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3–4: Ramp outreach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(300/week). First meetings booked.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5669280"/>
            <a:ext cx="3611880" cy="640080"/>
          </a:xfrm>
          <a:prstGeom prst="rect">
            <a:avLst/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7150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Review &amp; double down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what's working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06240" y="2103120"/>
            <a:ext cx="361188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14884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cold email to 600/week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(Commander churner sequence)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06240" y="2816352"/>
            <a:ext cx="361188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86207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groups + Whirlpool threads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06240" y="3529584"/>
            <a:ext cx="361188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5753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vertical outreach launch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06240" y="4242816"/>
            <a:ext cx="361188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428853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channel: approach 10 accountants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5 IT consultants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06240" y="4956048"/>
            <a:ext cx="361188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50017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#1: GEM Hotel drafted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published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0" y="5669280"/>
            <a:ext cx="361188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57150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ads small test ($300–500)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organic proving the message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138160" y="2103120"/>
            <a:ext cx="3611880" cy="640080"/>
          </a:xfrm>
          <a:prstGeom prst="rect">
            <a:avLst/>
          </a:prstGeom>
          <a:solidFill>
            <a:srgbClr val="FFFAF0"/>
          </a:solidFill>
          <a:ln w="6350">
            <a:solidFill>
              <a:srgbClr val="FEEB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214884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mid-funnel pipeline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(proposals sent in Month 2)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138160" y="2816352"/>
            <a:ext cx="3611880" cy="640080"/>
          </a:xfrm>
          <a:prstGeom prst="rect">
            <a:avLst/>
          </a:prstGeom>
          <a:solidFill>
            <a:srgbClr val="FFFAF0"/>
          </a:solidFill>
          <a:ln w="6350">
            <a:solidFill>
              <a:srgbClr val="FEEB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286207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referrals start flowing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(accountants, IT consultants)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38160" y="3529584"/>
            <a:ext cx="3611880" cy="640080"/>
          </a:xfrm>
          <a:prstGeom prst="rect">
            <a:avLst/>
          </a:prstGeom>
          <a:solidFill>
            <a:srgbClr val="FFFAF0"/>
          </a:solidFill>
          <a:ln w="6350">
            <a:solidFill>
              <a:srgbClr val="FEEB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35753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customer case studies live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38160" y="4242816"/>
            <a:ext cx="3611880" cy="640080"/>
          </a:xfrm>
          <a:prstGeom prst="rect">
            <a:avLst/>
          </a:prstGeom>
          <a:solidFill>
            <a:srgbClr val="FFFAF0"/>
          </a:solidFill>
          <a:ln w="6350">
            <a:solidFill>
              <a:srgbClr val="FEEB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428853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cross-sell to existing customers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138160" y="4956048"/>
            <a:ext cx="3611880" cy="640080"/>
          </a:xfrm>
          <a:prstGeom prst="rect">
            <a:avLst/>
          </a:prstGeom>
          <a:solidFill>
            <a:srgbClr val="FFFAF0"/>
          </a:solidFill>
          <a:ln w="6350">
            <a:solidFill>
              <a:srgbClr val="FEEB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50017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Reviews: target 10+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active customers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138160" y="5669280"/>
            <a:ext cx="3611880" cy="640080"/>
          </a:xfrm>
          <a:prstGeom prst="rect">
            <a:avLst/>
          </a:prstGeom>
          <a:solidFill>
            <a:srgbClr val="FFFAF0"/>
          </a:solidFill>
          <a:ln w="6350">
            <a:solidFill>
              <a:srgbClr val="FEEB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57150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 review — plan next 90 days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Math — How We Get to 30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79476" y="1005840"/>
            <a:ext cx="11430000" cy="868680"/>
          </a:xfrm>
          <a:prstGeom prst="rect">
            <a:avLst/>
          </a:prstGeom>
          <a:solidFill>
            <a:srgbClr val="EBF8FF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Prospects contacted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356" y="14630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across channels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63556" y="11430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~7,300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2476" y="2011680"/>
            <a:ext cx="9144000" cy="868680"/>
          </a:xfrm>
          <a:prstGeom prst="rect">
            <a:avLst/>
          </a:prstGeom>
          <a:solidFill>
            <a:srgbClr val="BEE3F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5356" y="20848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replies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5356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reply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20556" y="2148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36876" y="3017520"/>
            <a:ext cx="7315200" cy="868680"/>
          </a:xfrm>
          <a:prstGeom prst="rect">
            <a:avLst/>
          </a:prstGeom>
          <a:solidFill>
            <a:srgbClr val="90CDF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756" y="30906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held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19756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reply → meeting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06156" y="3154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351276" y="4023360"/>
            <a:ext cx="5486400" cy="868680"/>
          </a:xfrm>
          <a:prstGeom prst="rect">
            <a:avLst/>
          </a:prstGeom>
          <a:solidFill>
            <a:srgbClr val="63B3ED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4156" y="4096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sent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34156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meeting → proposal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91756" y="41605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265676" y="5029200"/>
            <a:ext cx="3657600" cy="868680"/>
          </a:xfrm>
          <a:prstGeom prst="rect">
            <a:avLst/>
          </a:prstGeom>
          <a:solidFill>
            <a:srgbClr val="0F2B4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8556" y="5102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CLOSED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48556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proposal → close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77356" y="51663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✓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 — Where We'll Win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5669280" cy="2651760"/>
          </a:xfrm>
          <a:prstGeom prst="roundRect">
            <a:avLst>
              <a:gd name="adj" fmla="val 3448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411480" cy="411480"/>
          </a:xfrm>
          <a:prstGeom prst="ellipse">
            <a:avLst/>
          </a:prstGeom>
          <a:solidFill>
            <a:srgbClr val="0F2B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outreach —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 churners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Weeks 1–13   |   💪 Effort: High   |   🚀 Fast (2–4 weeks to first close)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email + LinkedIn to hospitality GMs, law firm partners, practice managers who were on Commander. 3-touch sequence. Start at 100/week, scale to 700/week.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A in this deck 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5669280" cy="2651760"/>
          </a:xfrm>
          <a:prstGeom prst="roundRect">
            <a:avLst>
              <a:gd name="adj" fmla="val 3448"/>
            </a:avLst>
          </a:prstGeom>
          <a:solidFill>
            <a:srgbClr val="F0FFF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143000"/>
            <a:ext cx="411480" cy="411480"/>
          </a:xfrm>
          <a:prstGeom prst="ellipse">
            <a:avLst/>
          </a:prstGeom>
          <a:solidFill>
            <a:srgbClr val="0F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11556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 —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customers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Week 1 launch   |   💪 Effort: Low   |   🚀 Fast (days to weeks)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credit + $100 calling bonus. Email to Alevo, Two Wheel Obsession and GEM Hotel this week. Est. 9–11 customers from this channel alone.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3291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 in this deck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840480"/>
            <a:ext cx="5669280" cy="2651760"/>
          </a:xfrm>
          <a:prstGeom prst="roundRect">
            <a:avLst>
              <a:gd name="adj" fmla="val 3448"/>
            </a:avLst>
          </a:prstGeom>
          <a:solidFill>
            <a:srgbClr val="FFFAF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77640"/>
            <a:ext cx="411480" cy="411480"/>
          </a:xfrm>
          <a:prstGeom prst="ellipse">
            <a:avLst/>
          </a:prstGeom>
          <a:solidFill>
            <a:srgbClr val="0F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channel —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accountants + IT consultants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Weeks 2–8   |   💪 Effort: Medium   |   🚀 Medium (4–8 weeks)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50292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10–20% ongoing MRR commission. Identify 10 accounting firms + 5 IT consultants in Sydney/Melbourne. Emily or Christian needed for intro meetings.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6126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action required 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3840480"/>
            <a:ext cx="5669280" cy="2651760"/>
          </a:xfrm>
          <a:prstGeom prst="roundRect">
            <a:avLst>
              <a:gd name="adj" fmla="val 3448"/>
            </a:avLst>
          </a:prstGeom>
          <a:solidFill>
            <a:srgbClr val="FAF5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977640"/>
            <a:ext cx="411480" cy="411480"/>
          </a:xfrm>
          <a:prstGeom prst="ellipse">
            <a:avLst/>
          </a:prstGeom>
          <a:solidFill>
            <a:srgbClr val="0F2B4A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9502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+ community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(Facebook groups, Whirlpool)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4617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Weeks 1–13   |   💪 Effort: Medium   |   🚀 Slow (SEO: 6–12 months)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Community: fast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50292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Commander article this week (low competition, buyers searching now). Facebook groups for hospitality + healthcare. Be helpful first, sell second.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6126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 in this deck →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 — 30 Customers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0F4F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A"/>
                </a:solidFill>
              </a:rPr>
              <a:t>Conservative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MRR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$7,050/mo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ARR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4A"/>
                </a:solidFill>
              </a:rPr>
              <a:t>$84,600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All customers on minimum plans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100584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0F2B4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143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Realistic 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DDEE"/>
                </a:solidFill>
              </a:rPr>
              <a:t>MRR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1965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$11,850/mo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4340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DDEE"/>
                </a:solidFill>
              </a:rPr>
              <a:t>ARR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340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$142,200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4340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Mix of plans, some bundles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46720" y="100584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0F4F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1143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A"/>
                </a:solidFill>
              </a:rPr>
              <a:t>Optimistic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MRR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1965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$21,600/mo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18388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ARR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4A"/>
                </a:solidFill>
              </a:rPr>
              <a:t>$259,200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8388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Full bundles, multi-site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11430000" cy="777240"/>
          </a:xfrm>
          <a:prstGeom prst="roundRect">
            <a:avLst>
              <a:gd name="adj" fmla="val 11765"/>
            </a:avLst>
          </a:prstGeom>
          <a:solidFill>
            <a:srgbClr val="FFFFF0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148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Wi-Fi project upside:  +~$36,000 one-time revenue if 30% of new customers commission a Wi-Fi project.   Calling cross-sell adds ~$15–30 MRR per customer.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983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A"/>
                </a:solidFill>
              </a:rPr>
              <a:t>MRR Ramp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6279642"/>
            <a:ext cx="2286000" cy="75438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02361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B4A"/>
                </a:solidFill>
              </a:rPr>
              <a:t>$900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00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Today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6229350"/>
            <a:ext cx="2286000" cy="125730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597331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B4A"/>
                </a:solidFill>
              </a:rPr>
              <a:t>$1,500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6400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Month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5935980"/>
            <a:ext cx="2286000" cy="419100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56799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B4A"/>
                </a:solidFill>
              </a:rPr>
              <a:t>$5,000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6400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Month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869680" y="5361813"/>
            <a:ext cx="2286000" cy="993267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8869680" y="5105781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B4A"/>
                </a:solidFill>
              </a:rPr>
              <a:t>$11,850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869680" y="6400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Month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A — Cold Email: Commander / Vocus Churner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Target: Hospitality GMs and operators who were Commander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7772400" cy="4846320"/>
          </a:xfrm>
          <a:prstGeom prst="roundRect">
            <a:avLst>
              <a:gd name="adj" fmla="val 1887"/>
            </a:avLst>
          </a:prstGeom>
          <a:solidFill>
            <a:srgbClr val="F9FAFB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777240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New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4A"/>
                </a:solidFill>
              </a:rPr>
              <a:t>To: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82880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[FIRST_NAME] [LAST_NAME] — General Manager, [COMPANY]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4A"/>
                </a:solidFill>
              </a:rPr>
              <a:t>Subject 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0299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Your internet &amp; phones since Commander closed — sorted?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2311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4A"/>
                </a:solidFill>
              </a:rPr>
              <a:t>Subject B: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23113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[FIRST_NAME], quick question about your connectivity setup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432304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633472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Hi [FIRST_NAME],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834640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[COMPANY] was a Commander customer — which means you're now on Vocus,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236976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 wholesale infrastructure provider not built for venues like yours.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438144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639312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We're Calystro — same nbn network as Aussie Broadband, with Cisco Meraki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security built in and an Australian team that actually picks up the phone.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04164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242816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For hospitality: reliable internet, Wi-Fi across your venue, and cloud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443984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calling — under one managed monthly bill. No setup fees.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645152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846320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The GEM Hotel made the switch: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504748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"Always answer the phone at any time of day. Excellent service!" — GEM Hotel GM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5248656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5449824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Worth a 15-minute conversation? [CALENDAR LINK]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650992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Claire Alexandra | CEO, Calystro | 02 7229 3600 | calystro.com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21040" y="17373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1783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subject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to test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21040" y="2926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2971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pain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321040" y="3840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3886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321040" y="49377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983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customer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21040" y="5760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5806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Low-friction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✅ Ready to send — needs outreach tool approval (Apollo.io ~$99/mo)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B — Cold Email: PSTN Switch-Off (Law Firms / Professional Services)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Target: Law firm managing partners and professional services principals facing legacy phone system upgrades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7772400" cy="4846320"/>
          </a:xfrm>
          <a:prstGeom prst="roundRect">
            <a:avLst>
              <a:gd name="adj" fmla="val 1887"/>
            </a:avLst>
          </a:prstGeom>
          <a:solidFill>
            <a:srgbClr val="F9FAFB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777240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📧  New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4A"/>
                </a:solidFill>
              </a:rPr>
              <a:t>To: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82880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[FIRST_NAME] [LAST_NAME] — Managing Partner, [COMPANY]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436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4A"/>
                </a:solidFill>
              </a:rPr>
              <a:t>Subject 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04368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Your phone system and the PSTN switch-off — what most law firms miss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2585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4A"/>
                </a:solidFill>
              </a:rPr>
              <a:t>Subject B: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25856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[FIRST_NAME] — quick note on [COMPANY]'s phone infrastructure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47345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68833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Hi [FIRST_NAME],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90322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11810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The PSTN switch-off has already hit many Australian firms — analogue lines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33298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dead, fax machines offline, legacy PABX systems scrambling for a fix.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54787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76275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Cisco Webex Calling replaces all of it: cloud calling from any device,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AI call summaries, call queues, recording capability — scales with your firm.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19252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40740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We're Calystro — Cisco Authorized Partner, Australian-owned. We handle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62229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everything from migration to ongoing support. No overseas call centres.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83717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505206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Could I send you a 1-page migration summary? 10 minutes to review,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526694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and we can have you operational within 2 weeks.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548182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569671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Claire Alexandra | CEO, Calystro | 02 7229 3600 | calystro.com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21040" y="19202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1965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Urgency: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timing is now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321040" y="31089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3154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Product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benefits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21040" y="40233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Credibility: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Cisco Partner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321040" y="50292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5074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Soft ask 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</a:rPr>
              <a:t>easy yes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✅ Ready to send — A/B test subject lines in Week 1 before scaling to 700/week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 — Facebook Group Post: Commander / Vocus Transition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</a:rPr>
              <a:t>Target groups: Restaurant &amp; Café Owners Australia · Bar &amp; Pub Owners Australia · Hospitality Business Owners NSW/VIC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731520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463040"/>
            <a:ext cx="502920" cy="502920"/>
          </a:xfrm>
          <a:prstGeom prst="ellipse">
            <a:avLst/>
          </a:prstGeom>
          <a:solidFill>
            <a:srgbClr val="0F2B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64208" y="1463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</a:rPr>
              <a:t>Calystro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64208" y="1737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Just now · 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057400"/>
            <a:ext cx="7040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anyone who was on Commander internet — genuinely asking how you're going with the transition to Vocus?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seeing a lot of venue operators who didn't realise Commander had closed until their support got noticeably worse. Some are fine, others are frustrated.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what it's worth: the thing most hospitality venues wish they'd sorted earlier is getting internet, Wi-Fi and phone under one managed service — rather than juggling separate providers.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share what we've seen work if useful. Not here to pitch — genuinely curious how people are landing.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(We're Calystro — managed connectivity for venues. The GEM Hotel is a customer, happy to share their contact if you want a peer reference.)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5806440"/>
            <a:ext cx="7315200" cy="36576"/>
          </a:xfrm>
          <a:prstGeom prst="rect">
            <a:avLst/>
          </a:prstGeom>
          <a:solidFill>
            <a:srgbClr val="E4E6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87044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Like   💬 Comment   ↗️ Share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A"/>
                </a:solidFill>
              </a:rPr>
              <a:t>Why this works: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Leads with empathy, not a pitch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0392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GEM Hotel is a peer reference in the same vertical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'Not here to pitch' — the most powerful sales line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Free. Works immediately.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03920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Comments attract others with the same problem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0" y="4800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Must be posted by a real person — Christian or Emily, or a team member with a real profile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 — Referral Program: Email to Existing Customers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Send to: Alevo · Two Wheel Obsession · The GEM Hotel  |  Send this week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7132320" cy="4937760"/>
          </a:xfrm>
          <a:prstGeom prst="roundRect">
            <a:avLst>
              <a:gd name="adj" fmla="val 2778"/>
            </a:avLst>
          </a:prstGeom>
          <a:solidFill>
            <a:srgbClr val="0F2B4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Cal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ystro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a Business.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Rewarded.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64008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us to a business contact (email, phone, coffee)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mention your name or use your referral 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2519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activate → you receive $200 account credit instantly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8463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add calling too → extra $100 bonus credit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5532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</a:rPr>
              <a:t>Credits appear on your next invoice. No forms. No waiting.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0" y="12801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0FFF4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💰  Expected impact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09560" y="18745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9–11 of our 30-customer target can come from referrals alone.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quality leads — trust already established.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Lowers our cost-per-acquisition to near zero.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384048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A"/>
                </a:solidFill>
              </a:rPr>
              <a:t>✅  Board approval needed: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43434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credit per referred customer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+$100 if they add Calling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credits offset against next invoice — no cash outlay.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Approval Required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executes without Christian &amp; Emily's sign-off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538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THIS 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Calystro Kickstart offer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80136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month free + free network assessment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396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Referral program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213969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+ $100 credit structure — email to 3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Outreach tooling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47802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Apollo.io or Instantly ~$99–$399/month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163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calystro.com DNS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81635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domain to Render (5 min task)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GTM container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315468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at tagmanager.google.com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4930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Google My Business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49300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Create/claim listing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8313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ProductReview listing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83133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Claim/create company profile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1696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LinkedIn Company Page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416966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ready from Buzz — 30 min to create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6817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50292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Partner commissions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502920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10–20% MRR tiered 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53675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Emily availability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53675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partner meetings — accounting firms + IT consultants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ystro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— Week 1 Execution Plan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749040" cy="5303520"/>
          </a:xfrm>
          <a:prstGeom prst="roundRect">
            <a:avLst>
              <a:gd name="adj" fmla="val 2927"/>
            </a:avLst>
          </a:prstGeom>
          <a:solidFill>
            <a:srgbClr val="EBF8FF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3749040" cy="457200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424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Review and approve this presentation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Approve Calystro Kickstart offer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4378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Approve referral program ($200 + $100)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6557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Create Google My Business listing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0873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Create LinkedIn Company Page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DNS: point calystro.com to Render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53309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Provide GTM container 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1005840"/>
            <a:ext cx="3749040" cy="5303520"/>
          </a:xfrm>
          <a:prstGeom prst="roundRect">
            <a:avLst>
              <a:gd name="adj" fmla="val 2927"/>
            </a:avLst>
          </a:prstGeom>
          <a:solidFill>
            <a:srgbClr val="F0FFF4"/>
          </a:solidFill>
          <a:ln w="25400">
            <a:solidFill>
              <a:srgbClr val="68D3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005840"/>
            <a:ext cx="3749040" cy="457200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0424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Claire + 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16002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Set up outreach tool (post approval)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22199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Send referral program email to 3 customers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284378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Publish Commander blog article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46557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Launch Commander/Vocus cold email sequence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0873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Join 5 hospitality Facebook groups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470916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Begin CRM setup (HubSpot free)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53309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Identify 10 accountant + 5 IT consultant targets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1005840"/>
            <a:ext cx="3749040" cy="5303520"/>
          </a:xfrm>
          <a:prstGeom prst="roundRect">
            <a:avLst>
              <a:gd name="adj" fmla="val 2927"/>
            </a:avLst>
          </a:prstGeom>
          <a:solidFill>
            <a:srgbClr val="FFFAF0"/>
          </a:solidFill>
          <a:ln w="25400">
            <a:solidFill>
              <a:srgbClr val="F6AD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005840"/>
            <a:ext cx="3749040" cy="45720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10424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16002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Availability flagged for partner intro meetings (Week 2–3)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222199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Available for qualified inbound sales calls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284378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LinkedIn profile activation (recommended)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6492240"/>
            <a:ext cx="11612880" cy="457200"/>
          </a:xfrm>
          <a:prstGeom prst="roundRect">
            <a:avLst>
              <a:gd name="adj" fmla="val 16000"/>
            </a:avLst>
          </a:prstGeom>
          <a:solidFill>
            <a:srgbClr val="0F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37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First Monday All-Hands: 24 March 2026 at 7:00am AEST — team presents Week 1 results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Calystro Board Presentation March 2026</dc:title>
  <dc:subject>90-Day Growth Strategy: 3 → 30 Customers</dc:subject>
  <dc:creator>Claire Alexandra, CEO — Calystro</dc:creator>
  <cp:lastModifiedBy>Claire Alexandra, CEO — Calystro</cp:lastModifiedBy>
  <cp:revision>1</cp:revision>
  <dcterms:created xsi:type="dcterms:W3CDTF">2026-03-18T06:08:38Z</dcterms:created>
  <dcterms:modified xsi:type="dcterms:W3CDTF">2026-03-18T06:08:38Z</dcterms:modified>
</cp:coreProperties>
</file>